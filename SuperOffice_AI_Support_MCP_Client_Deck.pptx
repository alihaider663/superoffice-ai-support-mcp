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20"/>
    <p:sldId id="271" r:id="rId21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206240" cy="365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MODEL CONTEXT PROTOCOL (MCP) •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SuperOffice AI Support MCP Platform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Enterprise Diagnostic Telemetry, Automated Incident Triage &amp; Governed Cross-System Investigation</a:t>
            </a:r>
          </a:p>
          <a:p>
            <a:pPr>
              <a:defRPr sz="1300">
                <a:solidFill>
                  <a:srgbClr val="14B8A6"/>
                </a:solidFill>
                <a:latin typeface="Segoe UI"/>
              </a:defRPr>
            </a:pPr>
            <a:r>
              <a:t>Bridging Autonomous AI Reasoning Engines with Onsite SuperOffice CRM, MSSQL Telemetry &amp; pgvector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2542032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4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SIX-LAYER GATEWAY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Zero-Trust Perimeter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Perimeter mediation with zero direct DB or OS shell access for external AI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3840480"/>
            <a:ext cx="2542032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400"/>
              </a:spcAft>
              <a:defRPr sz="900" b="1">
                <a:solidFill>
                  <a:srgbClr val="14B8A6"/>
                </a:solidFill>
                <a:latin typeface="Segoe UI"/>
              </a:defRPr>
            </a:pPr>
            <a:r>
              <a:t>18 CANONICAL TOOLS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Governed Surface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Strictly validated public tools across CRM, SQL telemetry, and runbook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840480"/>
            <a:ext cx="2542032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40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DATABASE SAFETY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Hard Constraints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5.0s query timeout, 50-row result cap, and mandatory SNAPSHOT transaction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3840480"/>
            <a:ext cx="2542032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1,043 TESTS PASSED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Verified Baseline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100% passing regression test suite with strict mypy typing and ruff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Client Presentation Deck • Model Context Protocol Release 1.0 • Independent SuperOffice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THE ENTERPRISE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Rising Cost &amp; Complexity of Enterprise CRM Support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Support organizations face expanding ticket volumes, disconnected telemetry, and escalating MTTR.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SILOED DIAGNOSTICS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Fragmented Systems &amp; Data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CRM tickets are completely isolated from underlying MSSQL databases and IIS server logs.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Engineers spend 70%+ of triage time manually pulling logs from servers, running DB queries, and cross-referencing timestamps.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Lack of a single correlation timeline across ticket symptoms and infrastructure metrics slows down diagnosis.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Critical context is lost as tickets bounce between frontline support and technical engineering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ESCALATION OVERHEAD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Expensive L2/L3 Escalation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L1 support agents lack database and system visibility, forcing them to escalate routine technical questions.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Senior software engineers and DBAs spend costly hours resolving repetitive configuration and query issues.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High support labor costs combined with engineer burnout and reduced feature development velocity.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No self-service diagnostic capabilities for frontline support personnel.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SLOW RESOLUTION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Severe MTTR &amp; SLA Violations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Complex performance degradations, deadlocks, and timeouts average 2 to 4+ hours to diagnose.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Prolonged customer downtime during critical business hours degrades client satisfaction and retention.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Risk of breaching strict enterprise SLA guarantees resulting in direct financial and contractual penalties.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Troubleshooting knowledge remains trapped in unstructured notes and disconnected internal wikis.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THE ENTERPRISE AI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Why Off-The-Shelf LLMs Cannot Touch Enterprise CRM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Connecting public AI models directly to core business systems introduces unacceptable security and operational risks.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GDPR &amp; PRIVACY RISKS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PII &amp; Data Leakage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Unfiltered CRM tickets expose customer names, emails, phone numbers, and confidential contracts.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Transmitting unredacted customer data to public AI endpoints violates GDPR, SOC 2, and enterprise compliance.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Lack of automated PII masking and secret scrubbing risks massive regulatory fines and reputational loss.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Enterprise CISOs strictly forbid external LLM access to raw production customer databases.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INFRASTRUCTURE HAZARDS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Production Database Crashes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Allowing LLMs to generate arbitrary SQL leads to unindexed full table scans, locking, and severe deadlocks.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Runaway queries during peak operational hours can exhaust MSSQL connection pools and crash the CRM.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Off-the-shelf AI models have no concept of database isolation levels, query timeouts, or resource ceilings.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Zero protection against accidental DDL/DML data corruption or catastrophic record alteration.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HALLUCINATION &amp; BLINDNESS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Lack of Determinism &amp; Audits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Generic models hallucinate non-existent database schemas, erroneous error causes, and invalid remedies.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No grounding in verified enterprise runbooks, architectural policies, or historical incident fixes.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Absence of an immutable audit trail detailing which tools were executed, who authorized them, and why.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Zero explainability or forensic reproducibility during post-incident compliance reviews.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THE PLATFORM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Governed, Safe &amp; Intelligent AI Support Platform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secure Model Context Protocol gateway bridging AI reasoning engines with enterprise CRM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47288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dirty="0"/>
              <a:t>OPEN MCP STANDARD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Universal Model-Agnostic Gateway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Built on the open Model Context Protocol (MCP) standard over </a:t>
            </a:r>
            <a:r>
              <a:rPr dirty="0" err="1"/>
              <a:t>Streamable</a:t>
            </a:r>
            <a:r>
              <a:rPr dirty="0"/>
              <a:t> HTTP 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Model Agnostic: Connects seamlessly to Anthropic Claude, Cursor, OpenAI GPT-4o, and autonomous agents.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Eliminates brittle proprietary point-to-point integrations with a standard, extensible protocol.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Single hardened perimeter gateway managing all client authentication, rate limiting, and tool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874519"/>
            <a:ext cx="3447288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14B8A6"/>
                </a:solidFill>
                <a:latin typeface="Segoe UI"/>
              </a:defRPr>
            </a:pPr>
            <a:r>
              <a:t>DEEP SYSTEM INTEGRATION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Multi-System Diagnostic Fusion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Unified Telemetry: Gathers evidence from SuperOffice REST WebAPI, MSSQL DMVs, and IIS system logs.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Correlates customer ticket symptoms with real-time server health, slow queries, and deadlock graphs.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Grounds AI reasoning in verified operational runbooks stored in high-performance pgvector stores.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Empowers AI agents to investigate incidents with complete multi-dimensional technical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874519"/>
            <a:ext cx="3447288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ZERO-TRUST GUARDRAILS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Enterprise Security Invariants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Deny-by-Default RBAC: Strict role hierarchy (L1 Support, L2 Diagnostics, L3 Investigation).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Automated PII Scrubbing: Redacts emails, phone numbers, and secrets before AI context delivery.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Database Safeguards: Mandatory 5.0s query timeout, 50-row maximum, and SNAPSHOT isolation.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rPr dirty="0"/>
              <a:t>•  Attachment Protection (D05): Metadata-only access; raw file downloads are denied by default.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ARCHITECTURE &amp;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Six-Layer Zero-Trust Enterprise Architecture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Strict architectural boundaries guarantee that external AI models never directly touch databases or host shells.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Layer 1: MCP Interface Layer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SuperOffice MCP (8 tools)  •  Diagnostics MCP (6 tools)  •  Knowledge MCP (3 tools)  •  Investigation MCP (1 tool)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9728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459736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Layer 2: Security &amp; Gateway Layer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Streamable HTTP Gateway  •  JWT Authentication  •  Deny-by-Default YAML RBAC  •  Recursive PII Redaction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59736"/>
            <a:ext cx="109728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136392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Layer 3: Autonomous Investigation Layer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Investigation State Machine  •  Evidence Collector  •  Hypothesis Verification Engine  •  Incident Correlator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36392"/>
            <a:ext cx="109728" cy="5669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813048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Layer 4: Application Service Layer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Ticket Investigation Service  •  Database Diagnostics Service  •  Runbook &amp; Knowledge Service  •  Log Parsing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13048"/>
            <a:ext cx="109728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4489704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Layer 5: Enterprise Integration Layer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SuperOffice</a:t>
            </a:r>
            <a:r>
              <a:rPr dirty="0"/>
              <a:t> REST Client (Async)  •  MSSQL Async Client (</a:t>
            </a:r>
            <a:r>
              <a:rPr dirty="0" err="1"/>
              <a:t>SQLAlchemy</a:t>
            </a:r>
            <a:r>
              <a:rPr dirty="0"/>
              <a:t> + </a:t>
            </a:r>
            <a:r>
              <a:rPr dirty="0" err="1"/>
              <a:t>aioodbc</a:t>
            </a:r>
            <a:r>
              <a:rPr dirty="0"/>
              <a:t>)  •  PostgreSQL </a:t>
            </a:r>
            <a:r>
              <a:rPr dirty="0" err="1"/>
              <a:t>pgvector</a:t>
            </a:r>
            <a:r>
              <a:rPr dirty="0"/>
              <a:t> Adapter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9704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Layer 6: Infrastructure Boundary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Operating System Process Isolation  •  Restricted Log Roots  •  Zero Dynamic SQL  •  Host Security Enclaves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66360"/>
            <a:ext cx="109728" cy="5669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5888736"/>
            <a:ext cx="10728655" cy="5943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rPr dirty="0"/>
              <a:t>CROSS-CUTTING OBSERVABILITY &amp; AUDIT ENGINE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Structured JSON Logging (</a:t>
            </a:r>
            <a:r>
              <a:rPr dirty="0" err="1"/>
              <a:t>structlog</a:t>
            </a:r>
            <a:r>
              <a:rPr dirty="0"/>
              <a:t>)  •  Distributed Correlation IDs  •  Immutable Audit Sinks  •  Full Forensic Replay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OPERATIONAL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Transforming Support Operations Across All Support Tiers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Role-tailored tool access and automated intelligence aligned directly with operational responsibilities.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TIER 1 • FRONTLINE SUPPORT</a:t>
            </a:r>
          </a:p>
          <a:p>
            <a:pPr>
              <a:spcAft>
                <a:spcPts val="12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Autonomous L1 Ticket Triage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Instant Ticket Summarization: Extracts core issues, sentiment, and urgency automatically.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Customer &amp; Company Context: Fetches relevant CRM entities with automated PII masking.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Semantic Runbook Matching: Instantly suggests verified customer-facing workarounds.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Response Drafting: Drafts clear, accurate customer replies in seconds for agent review.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Business Impact: Deflects 60–80% of routine queries; accelerates first-response time by 85%.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14B8A6"/>
                </a:solidFill>
                <a:latin typeface="Segoe UI"/>
              </a:defRPr>
            </a:pPr>
            <a:r>
              <a:t>TIER 2 • TECHNICAL DIAGNOSTICS</a:t>
            </a:r>
          </a:p>
          <a:p>
            <a:pPr>
              <a:spcAft>
                <a:spcPts val="12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Deep L2 System Diagnostics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MSSQL Health Telemetry: Checks database DMV health, CPU usage, and connection pool status.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Slow Query Identification: Surfaces slow queries with execution times and missing indexes.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Deadlock Graph Parsing: Extracts and decodes deadlock graphs from SQL Server ring buffer.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Log Search &amp; Correlation: Searches IIS access logs and SuperOffice application warning logs.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Business Impact: Reduces technical diagnostic triage from 45 minutes to under 2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TIER 3 • ROOT CAUSE ANALYSIS</a:t>
            </a:r>
          </a:p>
          <a:p>
            <a:pPr>
              <a:spcAft>
                <a:spcPts val="12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t>Orchestrated L3 Investigations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Cross-System Investigation: Correlates ticket symptoms with database and server telemetry.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Hypothesis Engine: Formulates and systematically validates technical failure hypotheses.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Definitive Root Cause: Distinguishes between infrastructure bottlenecks, app bugs, and locks.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Remediation Playbooks: Generates DBA scripts, configuration fixes, and post-mortem reports.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 Business Impact: Slashes major incident MTTR by 75%+; frees DBAs for core engineering.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FUNCTIONAL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18 Canonical Public Tools Across 4 Functional Domains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Zero arbitrary tool calls. Every capability is schema-validated, role-governed, and regression-tested.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SUPEROFFICE CRM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8 Public Tools (L1 Role)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get_ticket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Retrieve full ticket entity by ID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search_tickets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Filtered ticket search &amp; pagination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get_ticket_messages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Thread communication history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list_attachments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Metadata only (Decision D05)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get_company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Retrieve company by ID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find_companies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Search company directory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get_person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Contact details (PII masked)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find_persons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Search contact persons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14B8A6"/>
                </a:solidFill>
                <a:latin typeface="Segoe UI"/>
              </a:defRPr>
            </a:pPr>
            <a:r>
              <a:t>DIAGNOSTICS MCP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6 Public Tools (L2 Role)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get_database_health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MSSQL DMV health &amp; CPU metrics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find_slow_queries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Top slow queries (5s / 50 rows)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find_deadlocks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Ring buffer deadlock parser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find_blocking_sessions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Active lock wait chains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search_logs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IIS W3C &amp; warning logs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get_ticket_diagnostic_record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Correlate ticket ID with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KNOWLEDGE MCP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 Public Tools (L1 Role)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search_knowledge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Vector search in documentation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get_runbook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Retrieve structured runbook by ID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find_known_issues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Search incident workaround patterns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Offline CLI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Secure operator ingestion engine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pgvector HNSW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Sub-millisecond similarity index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FastEmbed Local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Zero external embedding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INVESTIGATION MCP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 High-Level Tool (L3)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investigate_incident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Orchestrated cross-system triage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State Machine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Deterministic investigation stages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Subordinate Calls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Executes 4 frozen diagnostic tools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Hypothesis Engine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Automated root-cause validation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Evidence Synthesis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Unified multi-system report</a:t>
            </a:r>
          </a:p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• Zero Shell Access</a:t>
            </a:r>
          </a:p>
          <a:p>
            <a:pPr>
              <a:spcAft>
                <a:spcPts val="400"/>
              </a:spcAft>
              <a:defRPr sz="850">
                <a:solidFill>
                  <a:srgbClr val="475569"/>
                </a:solidFill>
                <a:latin typeface="Segoe UI"/>
              </a:defRPr>
            </a:pPr>
            <a:r>
              <a:t>   Complete infrastructure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Defense-in-Depth Enterprise Security Controls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Engineered from the ground up to satisfy corporate CISOs, security audits, and GDPR compliance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266944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DENY-BY-DEFAULT RBAC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Declarative Role-Based Access Control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Declarative YAML policy engine (tool_permissions.yaml) enforced strictly at the Gateway.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Strict role hierarchy: L1 (Basic Support) ⊂ L2 (Diagnostics) ⊂ L3 (Cross-System Investigation).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Unmapped tools or unauthenticated callers are unconditionally rejected with HTTP 403 Forbidden.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91440" cy="2057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81344" y="1874519"/>
            <a:ext cx="5266944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rPr dirty="0"/>
              <a:t>AUTOMATED PII SANITIZATION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Recursive Data Minimization Filters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Recursive PII</a:t>
            </a:r>
            <a:r>
              <a:rPr lang="en-US" dirty="0"/>
              <a:t>(</a:t>
            </a:r>
            <a:r>
              <a:rPr lang="en-US" sz="1000" dirty="0">
                <a:solidFill>
                  <a:srgbClr val="475569"/>
                </a:solidFill>
                <a:latin typeface="Segoe UI"/>
              </a:rPr>
              <a:t>Personally Identifiable Information</a:t>
            </a:r>
            <a:r>
              <a:rPr lang="en-US" dirty="0"/>
              <a:t>)</a:t>
            </a:r>
            <a:r>
              <a:rPr dirty="0"/>
              <a:t> and secret redaction filters process all response payloads before AI context delivery.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Customer emails, phone numbers, bearer tokens, API keys, and connection strings are masked.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Prevents accidental leakage of customer personal data into external AI model prompts.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874519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66944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rPr dirty="0"/>
              <a:t>ATTACHMENT PROTECTION (D05)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Zero Raw Attachment Ingestion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Public </a:t>
            </a:r>
            <a:r>
              <a:rPr dirty="0" err="1"/>
              <a:t>list_attachments</a:t>
            </a:r>
            <a:r>
              <a:rPr dirty="0"/>
              <a:t> tool returns strictly metadata (filename, content type, size, ID).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Raw file downloads and automatic ingestion into AI context are prohibited by architectural invariant.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Eliminates potential prompt injection attacks, malware transfer, and large binary file leakage.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91440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1344" y="4114800"/>
            <a:ext cx="5266944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EF4444"/>
                </a:solidFill>
                <a:latin typeface="Segoe UI"/>
              </a:defRPr>
            </a:pPr>
            <a:r>
              <a:t>EXTERNAL AI BOUNDARY (D08)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Sovereign Enterprise Perimeter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Live transmission of confidential SuperOffice CRM records to external public AI endpoints is prohibited.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Knowledge base ingestion of live customer CRM exports is explicitly denied by default policy.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Compatible with on-premises LLM inference gateways and isolated VPC enterprise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4114800"/>
            <a:ext cx="91440" cy="2057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DATABASE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Guaranteed Database Safety &amp; Zero Production Disruption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Deep MSSQL telemetry extraction engineered with strict safety invariants to protect production databases.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EF4444"/>
                </a:solidFill>
                <a:latin typeface="Segoe UI"/>
              </a:defRPr>
            </a:pPr>
            <a:r>
              <a:rPr dirty="0"/>
              <a:t>HARD 5.0s TIMEOUT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Decision D01 Invariant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Every diagnostic query is hard-capped with an </a:t>
            </a:r>
            <a:r>
              <a:rPr dirty="0" err="1"/>
              <a:t>unbypassable</a:t>
            </a:r>
            <a:r>
              <a:rPr dirty="0"/>
              <a:t> 5.0-second execution timeout.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Executed via </a:t>
            </a:r>
            <a:r>
              <a:rPr dirty="0" err="1"/>
              <a:t>SQLAlchemy</a:t>
            </a:r>
            <a:r>
              <a:rPr dirty="0"/>
              <a:t> async driver-level execution options (</a:t>
            </a:r>
            <a:r>
              <a:rPr dirty="0" err="1"/>
              <a:t>execution_options</a:t>
            </a:r>
            <a:r>
              <a:rPr dirty="0"/>
              <a:t>(timeout=5.0)).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Long-running queries are aborted immediately, preventing worker thread exhaustion.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•  Eliminates the possibility of runaway diagnostic queries impacting database responsiveness.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HARD 50-ROW CEILING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Decision D02 Invariant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Result sets are strictly clamped using effective_limit = min(requested, 50).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Guarantees that database diagnostic calls return bounded, manageable telemetry.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Eliminates memory bloat, high network transfer costs, and LLM context window overflow.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Forces AI models to focus on high-impact diagnostic evidence rather than dumping raw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SNAPSHOT ISOLATION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Decision D09 Invariant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Mandatory SNAPSHOT transaction isolation level on all diagnostic database connections.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Non-blocking reads: Uses SQL Server row versioning rather than shared page locks.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Zero lock contention: Diagnostic queries never block active CRM transactions or user updates.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Zero WITH (NOLOCK) hints: Eliminates dirty reads, torn pages, and phantom data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ZERO ARBITRARY SQL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Pre-Compiled DMVs Only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AI models have zero capability to execute freeform, dynamic, or unvetted SQL strings.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All diagnostic operations use pre-compiled, parameterized SQL queries bound to DMVs.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Zero DDL operations: Cannot alter schemas, drop tables, or create temporary objects.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Zero DML operations: Read-only access ensures zero accidental data modification.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KNOWLEDGE RETRIEVAL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Grounding AI Reasoning in Verified Enterprise Runbooks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Pairing live diagnostic telemetry with verified institutional troubleshooting runbooks and known issue resolutions.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POSTGRESQL + PGVECTOR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Dedicated Knowledge Store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Dedicated PostgreSQL database (superoffice_ai_knowledge) with pgvector (0.8.6).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Clean schema segregation: documents, chunks, runbooks, and known_issues tables.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Native HNSW vector index: Delivers sub-millisecond similarity search across enterprise guides.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Enables hybrid keyword and vector semantic retrieval for superior technical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14B8A6"/>
                </a:solidFill>
                <a:latin typeface="Segoe UI"/>
              </a:defRPr>
            </a:pPr>
            <a:r>
              <a:t>IN-PROCESS FASTEMBED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Zero External Embedding API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In-process embedding generation utilizing FastEmbed and BAAI/bge-small-en-v1.5 (384 dimensions).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Zero latency overhead: Embeddings are generated locally on the host CPU in milliseconds.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Zero external API costs: No recurring per-token charges or third-party vendor dependencies.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100% offline &amp; air-gapped readiness: Operates securely inside isolated private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874519"/>
            <a:ext cx="344728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GOVERNED INGESTION CLI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Sanitized Operator Pipeline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Internal operator CLI (kb_mcp.ingestion.cli) with mandatory dry-run admission checks.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Immutable artifacts: Pre-redacted canonical Markdown stored as approved/&lt;type&gt;/&lt;id&gt;/&lt;hash&gt;.md.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PostgreSQL advisory locking (pg_advisory_xact_lock) serializes document ingestion safely.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 Guaranteed zero public ingestion: Zero unauthenticated or public document ingestion 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INCIDENT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From 3.5 Hours to 90 Seconds: Live Incident Resolution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How the SuperOffice AI Support MCP autonomously investigates and resolves a critical CRM degradation.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Ticket Alert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Customer reports widespread 504 Gateway Timeouts during ticket save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399"/>
            <a:ext cx="1664208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T + 00:00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874519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CRM Triage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SuperOffice MCP retrieves ticket #4092; identifies affected customer tenant and incident timestamp.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1528" y="2057399"/>
            <a:ext cx="1664208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T + 00:20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5776" y="1874519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Diagnostic Telemetry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Diagnostics MCP detects 3 blocked sessions and an unindexed query on </a:t>
            </a:r>
            <a:r>
              <a:rPr dirty="0" err="1"/>
              <a:t>ticket_history</a:t>
            </a:r>
            <a:r>
              <a:rPr dirty="0"/>
              <a:t> in MSSQL.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48656" y="2057399"/>
            <a:ext cx="1664208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T + 00:45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2904" y="1874519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Runbook Match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Knowledge MCP retrieves Runbook #RB-204: Known lock escalation during batch email synchronization.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15784" y="2057399"/>
            <a:ext cx="1664208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T + 01:10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0032" y="1874519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0" rIns="18288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Verified Resolution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AI synthesizes root-cause report: Identifies blocking SPID 78, query plan, and recommended index fix.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2912" y="2057399"/>
            <a:ext cx="1664208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T + 01:30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PROVEN OUTCOME: 99% REDUCTION IN MEAN TIME TO RESOLUTION (MTTR)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Incident diagnosed and remediated in 90 seconds compared to standard 3.5-hour manual triage. Zero DBA escalation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BUSINESS VALUE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Quantifiable Business Impact &amp; Operational Efficiency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customer support economics while elevating service reliability and customer satisfaction.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42032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28600" rIns="201168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75% REDUCTION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Mean Time to Resolution (MTTR)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Slashes average cross-system incident investigation from hours to minutes through automated multi-system telemetry correlation.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74519"/>
            <a:ext cx="2542032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28600" rIns="201168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60–80% DEFLECTION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First-Contact Resolution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Enables frontline L1 agents to resolve complex technical queries autonomously without escalating to senior engineering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74519"/>
            <a:ext cx="2542032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28600" rIns="201168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40% SAVINGS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Support Operating Costs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Dramatically reduces costly escalations to high-tier software engineers and DBAs, freeing them for product development.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874519"/>
            <a:ext cx="2542032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28600" rIns="201168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6366F1"/>
                </a:solidFill>
                <a:latin typeface="Segoe UI"/>
              </a:defRPr>
            </a:pPr>
            <a:r>
              <a:t>100% COMPLIANCE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Audit &amp; Security Assurance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Zero PII leakage, full role-based access control, and complete audit trail logging satisfy stringent GDPR and enterprise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Built to the Highest Enterprise Software Standards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 rock-solid technical foundation engineered for reliability, maintainability, and enterprise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1,043 TESTS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Comprehensive Regression Suite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1,043 automated pytest unit and integration tests passing in baseline.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100% coverage of tool schemas, security gates, RBAC engine, and sanitization.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Parametrized contract tests verify tool inputs and outputs against strict schemas.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Isolated test fixtures ensure zero dependency on live production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STRICT TYPING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Zero Lint &amp; Static Errors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100% strict type annotations enforced with mypy (disallow_untyped_defs = true).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Zero linting, formatting, or style violations using ruff across all packages.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Fail-fast runtime configuration validation using Pydantic Settings v2.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High-performance modern Python 3.12 architecture utilizing native type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UNIVERSAL AI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Open MCP Protocol Support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Official Model Context Protocol SDK v2 ensures complete protocol compliance.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Native support for Streamable HTTP transport (ADR 007) for enterprise robustness.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Works out-of-the-box with Claude Desktop, Cursor, OpenAI GPT-4o, and AI agents.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Eliminates vendor lock-in to any single proprietary AI model or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874519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CONTAINER-NATIVE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Production-Ready Packaging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Workspace monorepo managed with uv package manager for lightning-fast builds.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Locked dependency trees via uv.lock guarantee reproducible cross-platform builds.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Docker containerization support designed for enterprise Kubernetes / ECS.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 Engineered for deployment behind corporate load balancers and API gateways.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ENGAGEMENT &amp;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Structured 3-Phase Implementation Roadmap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disciplined, low-risk deployment methodology ensuring rapid value realization with zero production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PHASE 1 • WEEKS 1–2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Architecture Validation &amp; Pilot POC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Deploy local development MCP gateway in client sandbox environment.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Test synthetic SuperOffice CRM fixtures and mock MSSQL telemetry.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Validate Deny-by-Default RBAC policies and automated PII redaction filters.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Demonstrate automated L1 ticket triage with sample client ticket archives.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14B8A6"/>
                </a:solidFill>
                <a:latin typeface="Segoe UI"/>
              </a:defRPr>
            </a:pPr>
            <a:r>
              <a:t>PHASE 2 • WEEKS 3–4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Staging Integration &amp; Knowledge Ingestion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Connect gateway to staging SuperOffice REST API &amp; test SQL Server instance.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Ingest proprietary enterprise SOPs and technical runbooks into pgvector.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Conduct assisted pilot triage with internal L1 and L2 support specialists.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Refine prompt instructions and validate database SNAPSHOT isolation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PHASE 3 • WEEKS 5–6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Governed Production Rollout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Deploy containerized gateway behind enterprise corporate load balancer / WAF.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Implement asymmetric JWT token validation (JWKS) with enterprise identity provider.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Enable live L1 automated triage and L2 assisted diagnostic telemetry.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Establish continuous structured audit logging and operational Prometheus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spcAft>
                <a:spcPts val="2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READY TO MODERNIZE YOUR SUPEROFFICE SUPPORT OPERATIONS?</a:t>
            </a:r>
          </a:p>
          <a:p>
            <a:pPr>
              <a:defRPr sz="1150">
                <a:solidFill>
                  <a:srgbClr val="F8FAFC"/>
                </a:solidFill>
                <a:latin typeface="Segoe UI"/>
              </a:defRPr>
            </a:pPr>
            <a:r>
              <a:t>Schedule a live architecture walkthrough, technical demonstration, and custom POC planning session with our engineering team.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8FAFC"/>
                </a:solidFill>
                <a:latin typeface="Segoe UI"/>
              </a:rPr>
              <a:t>Next-Generation Web UI &amp; Intelligent Investigation Archive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Elevating the backend MCP platform into a comprehensive visual support workbench with persistent post-mortem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0EA5E9"/>
                </a:solidFill>
                <a:latin typeface="Segoe UI"/>
              </a:rPr>
              <a:t>OPERATOR WORKSPACE</a:t>
            </a:r>
          </a:p>
          <a:p>
            <a:pPr algn="ctr">
              <a:spcAft>
                <a:spcPts val="1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Interactive Web UI &amp; Console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0EA5E9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Visual Control Plane: </a:t>
            </a:r>
            <a:r>
              <a:rPr sz="1000">
                <a:solidFill>
                  <a:srgbClr val="94A3B8"/>
                </a:solidFill>
                <a:latin typeface="Segoe UI"/>
              </a:rPr>
              <a:t>Dedicated React/TypeScript portal for support teams with real-time diagnostic telemetry dashboards.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0EA5E9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Live Health Gauges: </a:t>
            </a:r>
            <a:r>
              <a:rPr sz="1000">
                <a:solidFill>
                  <a:srgbClr val="94A3B8"/>
                </a:solidFill>
                <a:latin typeface="Segoe UI"/>
              </a:rPr>
              <a:t>Interactive visual status widgets for MSSQL reachability, active connection pools, query latency, and backup status.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0EA5E9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Incident Investigation Graph: </a:t>
            </a:r>
            <a:r>
              <a:rPr sz="1000">
                <a:solidFill>
                  <a:srgbClr val="94A3B8"/>
                </a:solidFill>
                <a:latin typeface="Segoe UI"/>
              </a:rPr>
              <a:t>Interactive multi-step visualizer tracking agent hypothesis testing, evidence collection, and validation in real-time.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0EA5E9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CRM In-App Embed: </a:t>
            </a:r>
            <a:r>
              <a:rPr sz="1000">
                <a:solidFill>
                  <a:srgbClr val="94A3B8"/>
                </a:solidFill>
                <a:latin typeface="Segoe UI"/>
              </a:rPr>
              <a:t>Lightweight responsive iframe/SPA embedded directly inside the SuperOffice Service Client interface for seamless agent triage.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14B8A6"/>
                </a:solidFill>
                <a:latin typeface="Segoe UI"/>
              </a:rPr>
              <a:t>INVESTIGATION ARCHIVE</a:t>
            </a:r>
          </a:p>
          <a:p>
            <a:pPr algn="ctr">
              <a:spcAft>
                <a:spcPts val="1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Historical Reports &amp; Post-Mortem Search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14B8A6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Persistent Incident Archive: </a:t>
            </a:r>
            <a:r>
              <a:rPr sz="1000">
                <a:solidFill>
                  <a:srgbClr val="94A3B8"/>
                </a:solidFill>
                <a:latin typeface="Segoe UI"/>
              </a:rPr>
              <a:t>Every triage run, evidence trail, and synthesized diagnosis is indexed and archived in PostgreSQL.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14B8A6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Semantic Incident Search: </a:t>
            </a:r>
            <a:r>
              <a:rPr sz="1000">
                <a:solidFill>
                  <a:srgbClr val="94A3B8"/>
                </a:solidFill>
                <a:latin typeface="Segoe UI"/>
              </a:rPr>
              <a:t>Vector and keyword search over past resolved incidents to instantly match similar symptoms and known fixes.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14B8A6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Automated RCA Generator: </a:t>
            </a:r>
            <a:r>
              <a:rPr sz="1000">
                <a:solidFill>
                  <a:srgbClr val="94A3B8"/>
                </a:solidFill>
                <a:latin typeface="Segoe UI"/>
              </a:rPr>
              <a:t>One-click export of structured Root Cause Analysis reports in PDF, Markdown, and executive HTML formats.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14B8A6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Telemetry Diff Engine: </a:t>
            </a:r>
            <a:r>
              <a:rPr sz="1000">
                <a:solidFill>
                  <a:srgbClr val="94A3B8"/>
                </a:solidFill>
                <a:latin typeface="Segoe UI"/>
              </a:rPr>
              <a:t>Compare current degraded database/API metrics side-by-side against historical healthy baseline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A855F7"/>
                </a:solidFill>
                <a:latin typeface="Segoe UI"/>
              </a:rPr>
              <a:t>OPERATIONAL INTELLIGENCE</a:t>
            </a:r>
          </a:p>
          <a:p>
            <a:pPr algn="ctr">
              <a:spcAft>
                <a:spcPts val="1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SLA Analytics &amp; Failure Trend Heatmaps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A855F7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MTTR &amp; Deflection Tracking: </a:t>
            </a:r>
            <a:r>
              <a:rPr sz="1000">
                <a:solidFill>
                  <a:srgbClr val="94A3B8"/>
                </a:solidFill>
                <a:latin typeface="Segoe UI"/>
              </a:rPr>
              <a:t>Live analytics dashboards tracking triage velocity, L1 resolution rates, and SLA adherence trends over time.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A855F7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Failure Pattern Heatmaps: </a:t>
            </a:r>
            <a:r>
              <a:rPr sz="1000">
                <a:solidFill>
                  <a:srgbClr val="94A3B8"/>
                </a:solidFill>
                <a:latin typeface="Segoe UI"/>
              </a:rPr>
              <a:t>Visual heatmaps identifying recurring problematic SQL queries, congested tables, and fragile tenant endpoints.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A855F7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Proactive SLA Warnings: </a:t>
            </a:r>
            <a:r>
              <a:rPr sz="1000">
                <a:solidFill>
                  <a:srgbClr val="94A3B8"/>
                </a:solidFill>
                <a:latin typeface="Segoe UI"/>
              </a:rPr>
              <a:t>Early-warning notifications alerting support leads when complex investigations approach critical SLA thresholds.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A855F7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Runbook Impact Scoring: </a:t>
            </a:r>
            <a:r>
              <a:rPr sz="1000">
                <a:solidFill>
                  <a:srgbClr val="94A3B8"/>
                </a:solidFill>
                <a:latin typeface="Segoe UI"/>
              </a:rPr>
              <a:t>Automated scoring ranking runbook effectiveness and pinpointing outdated or low-confidence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A5E9"/>
                </a:solidFill>
                <a:latin typeface="Segoe UI"/>
              </a:rPr>
              <a:t>OPERATOR-CENTRIC ARCHITECTURE</a:t>
            </a:r>
          </a:p>
          <a:p>
            <a:pPr algn="ctr"/>
            <a:r>
              <a:rPr sz="1100">
                <a:solidFill>
                  <a:srgbClr val="F8FAFC"/>
                </a:solidFill>
                <a:latin typeface="Segoe UI"/>
              </a:rPr>
              <a:t>Provides L1 frontline agents, L2 engineers, and support managers with an intuitive visual cockpit while preserving all zero-trust RBAC and PII boundaries.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560320" cy="2926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50392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8FAFC"/>
                </a:solidFill>
                <a:latin typeface="Segoe UI"/>
              </a:rPr>
              <a:t>Autonomous Support Evolution &amp; Enterprise Integrations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Transitioning customer support from reactive troubleshooting to predictive prevention and closed-loop self-healing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PREDICTIVE OPERATIONS</a:t>
            </a:r>
          </a:p>
          <a:p>
            <a:pPr algn="ctr">
              <a:spcAft>
                <a:spcPts val="1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Proactive Telemetry &amp; Pre-Ticket Triage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Autonomous Background Watcher: </a:t>
            </a:r>
            <a:r>
              <a:rPr sz="1000">
                <a:solidFill>
                  <a:srgbClr val="94A3B8"/>
                </a:solidFill>
                <a:latin typeface="Segoe UI"/>
              </a:rPr>
              <a:t>Continuous non-intrusive monitoring of MSSQL deadlocks, connection spikes, and API latency drifts.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Pre-Ticket Diagnostic Injection: </a:t>
            </a:r>
            <a:r>
              <a:rPr sz="1000">
                <a:solidFill>
                  <a:srgbClr val="94A3B8"/>
                </a:solidFill>
                <a:latin typeface="Segoe UI"/>
              </a:rPr>
              <a:t>When a customer submits a ticket in SuperOffice, the platform runs pre-flight diagnostics before an agent opens it.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Zero-Touch Diagnostic Attachment: </a:t>
            </a:r>
            <a:r>
              <a:rPr sz="1000">
                <a:solidFill>
                  <a:srgbClr val="94A3B8"/>
                </a:solidFill>
                <a:latin typeface="Segoe UI"/>
              </a:rPr>
              <a:t>First-touch engineers open incoming tickets with complete database health, logs, and root cause hints already attached.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Pre-Incident Prevention: </a:t>
            </a:r>
            <a:r>
              <a:rPr sz="1000">
                <a:solidFill>
                  <a:srgbClr val="94A3B8"/>
                </a:solidFill>
                <a:latin typeface="Segoe UI"/>
              </a:rPr>
              <a:t>Detects silent database performance degradation and alerts DBAs before it escalates into customer-facing downtime.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CONTINUOUS LEARNING</a:t>
            </a:r>
          </a:p>
          <a:p>
            <a:pPr algn="ctr">
              <a:spcAft>
                <a:spcPts val="1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Self-Enriching Runbook RAG Pipeline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Autonomous Runbook Drafting: </a:t>
            </a:r>
            <a:r>
              <a:rPr sz="1000">
                <a:solidFill>
                  <a:srgbClr val="94A3B8"/>
                </a:solidFill>
                <a:latin typeface="Segoe UI"/>
              </a:rPr>
              <a:t>Successfully resolved L3 investigations automatically generate candidate runbook entries for recurring issues.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Expert Approval Workflow: </a:t>
            </a:r>
            <a:r>
              <a:rPr sz="1000">
                <a:solidFill>
                  <a:srgbClr val="94A3B8"/>
                </a:solidFill>
                <a:latin typeface="Segoe UI"/>
              </a:rPr>
              <a:t>Senior engineers and DBAs review, refine, and publish AI-authored runbooks into pgvector with one-click signoff.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Dynamic Few-Shot Optimization: </a:t>
            </a:r>
            <a:r>
              <a:rPr sz="1000">
                <a:solidFill>
                  <a:srgbClr val="94A3B8"/>
                </a:solidFill>
                <a:latin typeface="Segoe UI"/>
              </a:rPr>
              <a:t>High-confidence investigation transcripts dynamically refine triage prompt context to improve future diagnosis accuracy.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10B981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Zero Documentation Toil: </a:t>
            </a:r>
            <a:r>
              <a:rPr sz="1000">
                <a:solidFill>
                  <a:srgbClr val="94A3B8"/>
                </a:solidFill>
                <a:latin typeface="Segoe UI"/>
              </a:rPr>
              <a:t>Institutional knowledge captures and self-organizes automatically with every ticket investigated across the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1856" y="1874519"/>
            <a:ext cx="3447288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6366F1"/>
                </a:solidFill>
                <a:latin typeface="Segoe UI"/>
              </a:rPr>
              <a:t>ENTERPRISE EXPANSION</a:t>
            </a:r>
          </a:p>
          <a:p>
            <a:pPr algn="ctr">
              <a:spcAft>
                <a:spcPts val="1200"/>
              </a:spcAft>
            </a:pPr>
            <a:r>
              <a:rPr sz="1350" b="1">
                <a:solidFill>
                  <a:srgbClr val="F8FAFC"/>
                </a:solidFill>
                <a:latin typeface="Segoe UI"/>
              </a:rPr>
              <a:t>Multi-Tenant Fabric &amp; Ecosystem Connectors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6366F1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Hybrid Multi-Tenant Isolation: </a:t>
            </a:r>
            <a:r>
              <a:rPr sz="1000">
                <a:solidFill>
                  <a:srgbClr val="94A3B8"/>
                </a:solidFill>
                <a:latin typeface="Segoe UI"/>
              </a:rPr>
              <a:t>Native tenant data partitioning supporting mixed SuperOffice Cloud, Private Cloud, and On-Premises deployments.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6366F1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APM &amp; Telemetry Streaming: </a:t>
            </a:r>
            <a:r>
              <a:rPr sz="1000">
                <a:solidFill>
                  <a:srgbClr val="94A3B8"/>
                </a:solidFill>
                <a:latin typeface="Segoe UI"/>
              </a:rPr>
              <a:t>Turnkey connectors for Azure Application Insights, Datadog, Splunk, and OpenTelemetry distributed tracing.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6366F1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Enterprise ChatOps Integration: </a:t>
            </a:r>
            <a:r>
              <a:rPr sz="1000">
                <a:solidFill>
                  <a:srgbClr val="94A3B8"/>
                </a:solidFill>
                <a:latin typeface="Segoe UI"/>
              </a:rPr>
              <a:t>Interactive triage notifications, incident escalation buttons, and status bots inside Microsoft Teams, Slack, and PagerDuty.</a:t>
            </a:r>
          </a:p>
          <a:p>
            <a:pPr algn="l">
              <a:spcAft>
                <a:spcPts val="700"/>
              </a:spcAft>
            </a:pPr>
            <a:r>
              <a:rPr sz="1000">
                <a:solidFill>
                  <a:srgbClr val="6366F1"/>
                </a:solidFill>
                <a:latin typeface="Segoe UI"/>
              </a:rPr>
              <a:t>•  </a:t>
            </a:r>
            <a:r>
              <a:rPr sz="1000" b="1">
                <a:solidFill>
                  <a:srgbClr val="F1F5F9"/>
                </a:solidFill>
                <a:latin typeface="Segoe UI"/>
              </a:rPr>
              <a:t>Extended Business Connectors: </a:t>
            </a:r>
            <a:r>
              <a:rPr sz="1000">
                <a:solidFill>
                  <a:srgbClr val="94A3B8"/>
                </a:solidFill>
                <a:latin typeface="Segoe UI"/>
              </a:rPr>
              <a:t>Pre-built integration hooks for enterprise billing platforms, ERP databases, and customer identity providers (SAML/OIDC).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A5E9"/>
                </a:solidFill>
                <a:latin typeface="Segoe UI"/>
              </a:rPr>
              <a:t>COMPOUNDING OPERATIONAL ADVANTAGE</a:t>
            </a:r>
          </a:p>
          <a:p>
            <a:pPr algn="ctr"/>
            <a:r>
              <a:rPr sz="1100">
                <a:solidFill>
                  <a:srgbClr val="F8FAFC"/>
                </a:solidFill>
                <a:latin typeface="Segoe UI"/>
              </a:rPr>
              <a:t>A phased, enterprise-proven evolutionary pathway transforming support from a cost center into a high-velocity operational competitive 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3162</Words>
  <Application>Microsoft Office PowerPoint</Application>
  <PresentationFormat>Widescreen</PresentationFormat>
  <Paragraphs>340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Haider (ext)</cp:lastModifiedBy>
  <cp:revision>2</cp:revision>
  <dcterms:created xsi:type="dcterms:W3CDTF">2013-01-27T09:14:16Z</dcterms:created>
  <dcterms:modified xsi:type="dcterms:W3CDTF">2026-09-15T08:11:47Z</dcterms:modified>
  <cp:category/>
</cp:coreProperties>
</file>